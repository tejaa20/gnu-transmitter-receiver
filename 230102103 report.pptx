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 Italics" charset="1" panose="020F05020202040A0204"/>
      <p:regular r:id="rId15"/>
    </p:embeddedFont>
    <p:embeddedFont>
      <p:font typeface="Calibri (MS)" charset="1" panose="020F0502020204030204"/>
      <p:regular r:id="rId16"/>
    </p:embeddedFont>
    <p:embeddedFont>
      <p:font typeface="Lora Italics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174450"/>
            <a:ext cx="16459200" cy="2258616"/>
            <a:chOff x="0" y="0"/>
            <a:chExt cx="21945600" cy="30114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3011487"/>
            </a:xfrm>
            <a:custGeom>
              <a:avLst/>
              <a:gdLst/>
              <a:ahLst/>
              <a:cxnLst/>
              <a:rect r="r" b="b" t="t" l="l"/>
              <a:pathLst>
                <a:path h="3011487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011487"/>
                  </a:lnTo>
                  <a:lnTo>
                    <a:pt x="0" y="3011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53" r="0" b="-7033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1945600" cy="315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EE332 Course term project </a:t>
              </a:r>
            </a:p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GNU Radio SDR Receiver Design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8460" y="2433066"/>
            <a:ext cx="16459200" cy="694944"/>
            <a:chOff x="0" y="0"/>
            <a:chExt cx="2194560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Signal Parameter Estimation from Unknown Baseband Waveform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246120"/>
            <a:ext cx="16093440" cy="640080"/>
            <a:chOff x="0" y="0"/>
            <a:chExt cx="21457920" cy="853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5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909" r="0" b="-43990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45792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3886200"/>
            <a:ext cx="16093440" cy="3657600"/>
            <a:chOff x="0" y="0"/>
            <a:chExt cx="21457920" cy="4876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4579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457920" cy="492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complex baseband signal is received using a PlutoSDR Source block. The transmitter details are not fully known at the receiver. Given only: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•  Sampling Rate: 512,000 Hz (512 kHz)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a receiver flowgraph and estimate: Symbol Rate  |  Samples Per Symbol (SPS)  |  Frequency Offset (CFO)  |  Signal Constellation</a:t>
              </a:r>
            </a:p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E2E8F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Tested and verified with the attached IQ file (file37.iq) as input.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7220" y="8854287"/>
            <a:ext cx="16642080" cy="808025"/>
            <a:chOff x="0" y="0"/>
            <a:chExt cx="21945600" cy="10655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065528"/>
            </a:xfrm>
            <a:custGeom>
              <a:avLst/>
              <a:gdLst/>
              <a:ahLst/>
              <a:cxnLst/>
              <a:rect r="r" b="b" t="t" l="l"/>
              <a:pathLst>
                <a:path h="10655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65528"/>
                  </a:lnTo>
                  <a:lnTo>
                    <a:pt x="0" y="10655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275" r="0" b="-3333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945600" cy="11131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7B2F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Varupula Tejaswini  |  Roll No: 230102103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" y="7614285"/>
            <a:ext cx="162763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1"/>
              </a:lnSpc>
              <a:spcBef>
                <a:spcPct val="0"/>
              </a:spcBef>
            </a:pPr>
            <a:r>
              <a:rPr lang="en-US" sz="243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receiver pipeline begins by capturing baseband IQ data through the PlutoSDR Source block at a fixed sampling rate of 512 kHz. The signal is then passed through a series of estimation blocks, each responsible for extracting one unknown parameter.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Receiver Design Procedure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4503" y="1724663"/>
            <a:ext cx="8620763" cy="2494283"/>
            <a:chOff x="0" y="0"/>
            <a:chExt cx="11494351" cy="33257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3959" y="2456183"/>
            <a:ext cx="793499" cy="793499"/>
            <a:chOff x="0" y="0"/>
            <a:chExt cx="1057999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6656" y="2468880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920" y="1920240"/>
            <a:ext cx="7223760" cy="621792"/>
            <a:chOff x="0" y="0"/>
            <a:chExt cx="963168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IQ File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2560320"/>
            <a:ext cx="7223760" cy="1463040"/>
            <a:chOff x="0" y="0"/>
            <a:chExt cx="963168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Source block reads file37.iq at 512 kHz sampling rate. Complex IQ samples are streamed as 32-bit float pairs representing in-phase and quadrature components.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4503" y="4504439"/>
            <a:ext cx="8620763" cy="2494283"/>
            <a:chOff x="0" y="0"/>
            <a:chExt cx="11494351" cy="33257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63959" y="5235959"/>
            <a:ext cx="793499" cy="793499"/>
            <a:chOff x="0" y="0"/>
            <a:chExt cx="1057999" cy="1057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6656" y="5248656"/>
            <a:ext cx="768096" cy="768096"/>
            <a:chOff x="0" y="0"/>
            <a:chExt cx="1024128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5920" y="4700016"/>
            <a:ext cx="7223760" cy="621792"/>
            <a:chOff x="0" y="0"/>
            <a:chExt cx="9631680" cy="8290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Estimate Symbol Period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45920" y="5248656"/>
            <a:ext cx="7223760" cy="1463040"/>
            <a:chOff x="0" y="0"/>
            <a:chExt cx="9631680" cy="1950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FFT of |x|² reveals periodic peaks tied to the baud rate. Symbol rate is identified from peak frequency; SPS = Fs / symbol_rate.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4503" y="7284215"/>
            <a:ext cx="8620763" cy="2494283"/>
            <a:chOff x="0" y="0"/>
            <a:chExt cx="11494351" cy="3325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3959" y="8015735"/>
            <a:ext cx="793499" cy="793499"/>
            <a:chOff x="0" y="0"/>
            <a:chExt cx="1057999" cy="10579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76656" y="8028432"/>
            <a:ext cx="768096" cy="768096"/>
            <a:chOff x="0" y="0"/>
            <a:chExt cx="1024128" cy="102412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5920" y="7479792"/>
            <a:ext cx="7223760" cy="621792"/>
            <a:chOff x="0" y="0"/>
            <a:chExt cx="9631680" cy="8290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Identify Constellation Order (q)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920" y="8065008"/>
            <a:ext cx="7223760" cy="1463040"/>
            <a:chOff x="0" y="0"/>
            <a:chExt cx="9631680" cy="1950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Signal is raised to power q and FFT is computed. A sharp DC spike at q = 8 confirms the 8-PSK modulation order blindly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05623" y="1724663"/>
            <a:ext cx="8620763" cy="2494283"/>
            <a:chOff x="0" y="0"/>
            <a:chExt cx="11494351" cy="33257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25079" y="2456183"/>
            <a:ext cx="793499" cy="793499"/>
            <a:chOff x="0" y="0"/>
            <a:chExt cx="1057999" cy="10579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37776" y="2468880"/>
            <a:ext cx="768096" cy="768096"/>
            <a:chOff x="0" y="0"/>
            <a:chExt cx="1024128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607040" y="1920240"/>
            <a:ext cx="7223760" cy="621792"/>
            <a:chOff x="0" y="0"/>
            <a:chExt cx="9631680" cy="8290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CFO Estimation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607040" y="2560320"/>
            <a:ext cx="7223760" cy="1463040"/>
            <a:chOff x="0" y="0"/>
            <a:chExt cx="9631680" cy="1950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Peak frequency at q·Δf is located after raising signal to q-th power. CFO is calculated as Δf = peak_freq / q using FFT analysis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05623" y="4504439"/>
            <a:ext cx="8620763" cy="2494283"/>
            <a:chOff x="0" y="0"/>
            <a:chExt cx="11494351" cy="33257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25079" y="5235959"/>
            <a:ext cx="793499" cy="793499"/>
            <a:chOff x="0" y="0"/>
            <a:chExt cx="1057999" cy="105799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37776" y="5248656"/>
            <a:ext cx="768096" cy="768096"/>
            <a:chOff x="0" y="0"/>
            <a:chExt cx="1024128" cy="102412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607040" y="4700016"/>
            <a:ext cx="7223760" cy="621792"/>
            <a:chOff x="0" y="0"/>
            <a:chExt cx="9631680" cy="8290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CFO Correction (De-rotation)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18603" y="5285232"/>
            <a:ext cx="7223760" cy="1463040"/>
            <a:chOff x="0" y="0"/>
            <a:chExt cx="9631680" cy="1950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Signal is multiplied by exp(−j2π·Δf·t) to remove frequency offset. This realigns the constellation to ideal phase positions before decoding.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05623" y="7284215"/>
            <a:ext cx="8620763" cy="2494283"/>
            <a:chOff x="0" y="0"/>
            <a:chExt cx="11494351" cy="332571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1460481" cy="3291840"/>
            </a:xfrm>
            <a:custGeom>
              <a:avLst/>
              <a:gdLst/>
              <a:ahLst/>
              <a:cxnLst/>
              <a:rect r="r" b="b" t="t" l="l"/>
              <a:pathLst>
                <a:path h="329184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494262" cy="3325622"/>
            </a:xfrm>
            <a:custGeom>
              <a:avLst/>
              <a:gdLst/>
              <a:ahLst/>
              <a:cxnLst/>
              <a:rect r="r" b="b" t="t" l="l"/>
              <a:pathLst>
                <a:path h="332562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3308731"/>
                  </a:lnTo>
                  <a:cubicBezTo>
                    <a:pt x="11494262" y="3318129"/>
                    <a:pt x="11486642" y="3325622"/>
                    <a:pt x="11477372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1477372" y="3291840"/>
                  </a:lnTo>
                  <a:lnTo>
                    <a:pt x="11477372" y="3308731"/>
                  </a:lnTo>
                  <a:lnTo>
                    <a:pt x="11460480" y="330873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25079" y="8015735"/>
            <a:ext cx="793499" cy="793499"/>
            <a:chOff x="0" y="0"/>
            <a:chExt cx="1057999" cy="105799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362"/>
                    <a:pt x="1024128" y="512064"/>
                  </a:cubicBezTo>
                  <a:cubicBezTo>
                    <a:pt x="1024128" y="794766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57910" cy="1057910"/>
            </a:xfrm>
            <a:custGeom>
              <a:avLst/>
              <a:gdLst/>
              <a:ahLst/>
              <a:cxnLst/>
              <a:rect r="r" b="b" t="t" l="l"/>
              <a:pathLst>
                <a:path h="1057910" w="1057910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lnTo>
                    <a:pt x="528955" y="16891"/>
                  </a:lnTo>
                  <a:lnTo>
                    <a:pt x="528955" y="0"/>
                  </a:lnTo>
                  <a:cubicBezTo>
                    <a:pt x="821055" y="0"/>
                    <a:pt x="1057910" y="236855"/>
                    <a:pt x="1057910" y="528955"/>
                  </a:cubicBezTo>
                  <a:lnTo>
                    <a:pt x="1041019" y="528955"/>
                  </a:lnTo>
                  <a:lnTo>
                    <a:pt x="1057910" y="528955"/>
                  </a:lnTo>
                  <a:cubicBezTo>
                    <a:pt x="1057910" y="821055"/>
                    <a:pt x="821055" y="1057910"/>
                    <a:pt x="528955" y="1057910"/>
                  </a:cubicBezTo>
                  <a:lnTo>
                    <a:pt x="528955" y="1041019"/>
                  </a:lnTo>
                  <a:lnTo>
                    <a:pt x="528955" y="1057910"/>
                  </a:lnTo>
                  <a:cubicBezTo>
                    <a:pt x="236855" y="1058037"/>
                    <a:pt x="0" y="821182"/>
                    <a:pt x="0" y="528955"/>
                  </a:cubicBezTo>
                  <a:lnTo>
                    <a:pt x="16891" y="528955"/>
                  </a:lnTo>
                  <a:lnTo>
                    <a:pt x="33909" y="528955"/>
                  </a:lnTo>
                  <a:lnTo>
                    <a:pt x="16891" y="528955"/>
                  </a:lnTo>
                  <a:lnTo>
                    <a:pt x="0" y="528955"/>
                  </a:lnTo>
                  <a:moveTo>
                    <a:pt x="33909" y="528955"/>
                  </a:moveTo>
                  <a:cubicBezTo>
                    <a:pt x="33909" y="538353"/>
                    <a:pt x="26289" y="545846"/>
                    <a:pt x="17018" y="545846"/>
                  </a:cubicBezTo>
                  <a:cubicBezTo>
                    <a:pt x="7747" y="545846"/>
                    <a:pt x="0" y="538353"/>
                    <a:pt x="0" y="528955"/>
                  </a:cubicBezTo>
                  <a:cubicBezTo>
                    <a:pt x="0" y="519557"/>
                    <a:pt x="7620" y="512064"/>
                    <a:pt x="16891" y="512064"/>
                  </a:cubicBezTo>
                  <a:cubicBezTo>
                    <a:pt x="26162" y="512064"/>
                    <a:pt x="33782" y="519684"/>
                    <a:pt x="33782" y="528955"/>
                  </a:cubicBezTo>
                  <a:cubicBezTo>
                    <a:pt x="33782" y="802386"/>
                    <a:pt x="255397" y="1024128"/>
                    <a:pt x="528955" y="1024128"/>
                  </a:cubicBezTo>
                  <a:cubicBezTo>
                    <a:pt x="802386" y="1024128"/>
                    <a:pt x="1024128" y="802513"/>
                    <a:pt x="1024128" y="528955"/>
                  </a:cubicBezTo>
                  <a:cubicBezTo>
                    <a:pt x="1024128" y="255524"/>
                    <a:pt x="802513" y="33782"/>
                    <a:pt x="528955" y="33782"/>
                  </a:cubicBezTo>
                  <a:lnTo>
                    <a:pt x="528955" y="16891"/>
                  </a:lnTo>
                  <a:lnTo>
                    <a:pt x="528955" y="33909"/>
                  </a:lnTo>
                  <a:cubicBezTo>
                    <a:pt x="255524" y="33909"/>
                    <a:pt x="33909" y="255524"/>
                    <a:pt x="33909" y="528955"/>
                  </a:cubicBez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37776" y="8028432"/>
            <a:ext cx="768096" cy="768096"/>
            <a:chOff x="0" y="0"/>
            <a:chExt cx="1024128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607040" y="7479792"/>
            <a:ext cx="7223760" cy="621792"/>
            <a:chOff x="0" y="0"/>
            <a:chExt cx="9631680" cy="8290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631680" cy="829056"/>
            </a:xfrm>
            <a:custGeom>
              <a:avLst/>
              <a:gdLst/>
              <a:ahLst/>
              <a:cxnLst/>
              <a:rect r="r" b="b" t="t" l="l"/>
              <a:pathLst>
                <a:path h="829056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370" r="0" b="-1763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96316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Decode &amp; Save Bits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607040" y="8119872"/>
            <a:ext cx="7223760" cy="1463040"/>
            <a:chOff x="0" y="0"/>
            <a:chExt cx="9631680" cy="19507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6316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963168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symbol is mapped to its nearest constellation point and converted to binary. Repacked bits are written to output.bin via File Sink block.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37541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Estimation Plots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0080" y="1028700"/>
            <a:ext cx="7955280" cy="548640"/>
            <a:chOff x="0" y="0"/>
            <a:chExt cx="106070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 Period Estimation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0080" y="4950742"/>
            <a:ext cx="7955280" cy="402336"/>
            <a:chOff x="0" y="0"/>
            <a:chExt cx="10607040" cy="536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7040" cy="536448"/>
            </a:xfrm>
            <a:custGeom>
              <a:avLst/>
              <a:gdLst/>
              <a:ahLst/>
              <a:cxnLst/>
              <a:rect r="r" b="b" t="t" l="l"/>
              <a:pathLst>
                <a:path h="53644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122" r="0" b="-3961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60704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FFT of |x|²  →  Peak at symbol rate frequency,peak at 200kHz ,symbol rate=200kHz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56064" y="1046483"/>
            <a:ext cx="7955280" cy="548640"/>
            <a:chOff x="0" y="0"/>
            <a:chExt cx="106070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 period flowgraph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29216" y="4781686"/>
            <a:ext cx="7955280" cy="676656"/>
            <a:chOff x="0" y="0"/>
            <a:chExt cx="10607040" cy="9022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040" cy="902208"/>
            </a:xfrm>
            <a:custGeom>
              <a:avLst/>
              <a:gdLst/>
              <a:ahLst/>
              <a:cxnLst/>
              <a:rect r="r" b="b" t="t" l="l"/>
              <a:pathLst>
                <a:path h="902208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0853" r="0" b="-21085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607040" cy="9307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5342382"/>
            <a:ext cx="7955280" cy="548640"/>
            <a:chOff x="0" y="0"/>
            <a:chExt cx="1060704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CFO Estimation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8648" y="9044707"/>
            <a:ext cx="8146712" cy="908552"/>
            <a:chOff x="0" y="0"/>
            <a:chExt cx="10862283" cy="1211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62283" cy="1211402"/>
            </a:xfrm>
            <a:custGeom>
              <a:avLst/>
              <a:gdLst/>
              <a:ahLst/>
              <a:cxnLst/>
              <a:rect r="r" b="b" t="t" l="l"/>
              <a:pathLst>
                <a:path h="1211402" w="10862283">
                  <a:moveTo>
                    <a:pt x="0" y="0"/>
                  </a:moveTo>
                  <a:lnTo>
                    <a:pt x="10862283" y="0"/>
                  </a:lnTo>
                  <a:lnTo>
                    <a:pt x="10862283" y="1211402"/>
                  </a:lnTo>
                  <a:lnTo>
                    <a:pt x="0" y="12114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469" r="2349" b="-927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862283" cy="1239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6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Peak at q·Δf =-0.172 kHz →  Δf = peak / 8 =-21.55Hz ,Signal raised to power q=8 → 8-PSK confirmed.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29216" y="5285232"/>
            <a:ext cx="7955280" cy="548640"/>
            <a:chOff x="0" y="0"/>
            <a:chExt cx="106070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CFO Estimation flowgraph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48648" y="1595123"/>
            <a:ext cx="8640394" cy="3240148"/>
          </a:xfrm>
          <a:custGeom>
            <a:avLst/>
            <a:gdLst/>
            <a:ahLst/>
            <a:cxnLst/>
            <a:rect r="r" b="b" t="t" l="l"/>
            <a:pathLst>
              <a:path h="3240148" w="8640394">
                <a:moveTo>
                  <a:pt x="0" y="0"/>
                </a:moveTo>
                <a:lnTo>
                  <a:pt x="8640394" y="0"/>
                </a:lnTo>
                <a:lnTo>
                  <a:pt x="8640394" y="3240148"/>
                </a:lnTo>
                <a:lnTo>
                  <a:pt x="0" y="3240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48648" y="5856989"/>
            <a:ext cx="8449687" cy="3187718"/>
          </a:xfrm>
          <a:custGeom>
            <a:avLst/>
            <a:gdLst/>
            <a:ahLst/>
            <a:cxnLst/>
            <a:rect r="r" b="b" t="t" l="l"/>
            <a:pathLst>
              <a:path h="3187718" w="8449687">
                <a:moveTo>
                  <a:pt x="0" y="0"/>
                </a:moveTo>
                <a:lnTo>
                  <a:pt x="8449687" y="0"/>
                </a:lnTo>
                <a:lnTo>
                  <a:pt x="8449687" y="3187718"/>
                </a:lnTo>
                <a:lnTo>
                  <a:pt x="0" y="31877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22" t="-1615" r="0" b="-3455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836893" y="1595123"/>
            <a:ext cx="7739926" cy="3355619"/>
          </a:xfrm>
          <a:custGeom>
            <a:avLst/>
            <a:gdLst/>
            <a:ahLst/>
            <a:cxnLst/>
            <a:rect r="r" b="b" t="t" l="l"/>
            <a:pathLst>
              <a:path h="3355619" w="7739926">
                <a:moveTo>
                  <a:pt x="0" y="0"/>
                </a:moveTo>
                <a:lnTo>
                  <a:pt x="7739926" y="0"/>
                </a:lnTo>
                <a:lnTo>
                  <a:pt x="7739926" y="3355619"/>
                </a:lnTo>
                <a:lnTo>
                  <a:pt x="0" y="3355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53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67256" y="5999252"/>
            <a:ext cx="7917240" cy="3118056"/>
          </a:xfrm>
          <a:custGeom>
            <a:avLst/>
            <a:gdLst/>
            <a:ahLst/>
            <a:cxnLst/>
            <a:rect r="r" b="b" t="t" l="l"/>
            <a:pathLst>
              <a:path h="3118056" w="7917240">
                <a:moveTo>
                  <a:pt x="0" y="0"/>
                </a:moveTo>
                <a:lnTo>
                  <a:pt x="7917240" y="0"/>
                </a:lnTo>
                <a:lnTo>
                  <a:pt x="7917240" y="3118055"/>
                </a:lnTo>
                <a:lnTo>
                  <a:pt x="0" y="31180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5375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365760"/>
            <a:ext cx="17190720" cy="1005840"/>
            <a:chOff x="0" y="0"/>
            <a:chExt cx="2292096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20961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292096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GNU Radio Flowgraph — Block Descriptions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3063" y="1581150"/>
            <a:ext cx="8620763" cy="1451867"/>
            <a:chOff x="0" y="0"/>
            <a:chExt cx="1149435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0080" y="1755648"/>
            <a:ext cx="8138160" cy="512064"/>
            <a:chOff x="0" y="0"/>
            <a:chExt cx="10850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Source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2286000"/>
            <a:ext cx="8138160" cy="694944"/>
            <a:chOff x="0" y="0"/>
            <a:chExt cx="1085088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Reads file37.iq; provides raw complex IQ samples at 512 kHz input sampling rate.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14183" y="1633223"/>
            <a:ext cx="8620763" cy="1451867"/>
            <a:chOff x="0" y="0"/>
            <a:chExt cx="11494351" cy="19358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01200" y="1755648"/>
            <a:ext cx="8138160" cy="512064"/>
            <a:chOff x="0" y="0"/>
            <a:chExt cx="108508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Rational Resampler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0" y="2286000"/>
            <a:ext cx="8138160" cy="694944"/>
            <a:chOff x="0" y="0"/>
            <a:chExt cx="108508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Interpolation 75, Decimation 64 → resamples to 600 kHz to match processing chain.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53063" y="3275507"/>
            <a:ext cx="8620763" cy="1418927"/>
            <a:chOff x="0" y="0"/>
            <a:chExt cx="11761187" cy="19358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7283" y="16891"/>
              <a:ext cx="11726530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726530">
                  <a:moveTo>
                    <a:pt x="0" y="0"/>
                  </a:moveTo>
                  <a:lnTo>
                    <a:pt x="11726530" y="0"/>
                  </a:lnTo>
                  <a:lnTo>
                    <a:pt x="11726530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61095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761095">
                  <a:moveTo>
                    <a:pt x="17283" y="0"/>
                  </a:moveTo>
                  <a:lnTo>
                    <a:pt x="11743813" y="0"/>
                  </a:lnTo>
                  <a:cubicBezTo>
                    <a:pt x="11753429" y="0"/>
                    <a:pt x="11761095" y="7620"/>
                    <a:pt x="11761095" y="16891"/>
                  </a:cubicBezTo>
                  <a:lnTo>
                    <a:pt x="11761095" y="1918843"/>
                  </a:lnTo>
                  <a:cubicBezTo>
                    <a:pt x="11761095" y="1928241"/>
                    <a:pt x="11753299" y="1935734"/>
                    <a:pt x="11743813" y="1935734"/>
                  </a:cubicBezTo>
                  <a:lnTo>
                    <a:pt x="17283" y="1935734"/>
                  </a:lnTo>
                  <a:cubicBezTo>
                    <a:pt x="7667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797" y="0"/>
                    <a:pt x="17283" y="0"/>
                  </a:cubicBezTo>
                  <a:moveTo>
                    <a:pt x="17283" y="33909"/>
                  </a:moveTo>
                  <a:lnTo>
                    <a:pt x="17283" y="16891"/>
                  </a:lnTo>
                  <a:lnTo>
                    <a:pt x="34696" y="16891"/>
                  </a:lnTo>
                  <a:lnTo>
                    <a:pt x="34696" y="1918843"/>
                  </a:lnTo>
                  <a:lnTo>
                    <a:pt x="17283" y="1918843"/>
                  </a:lnTo>
                  <a:lnTo>
                    <a:pt x="17283" y="1901952"/>
                  </a:lnTo>
                  <a:lnTo>
                    <a:pt x="11743813" y="1901952"/>
                  </a:lnTo>
                  <a:lnTo>
                    <a:pt x="11743813" y="1918843"/>
                  </a:lnTo>
                  <a:lnTo>
                    <a:pt x="11726530" y="1918843"/>
                  </a:lnTo>
                  <a:lnTo>
                    <a:pt x="11726530" y="16891"/>
                  </a:lnTo>
                  <a:lnTo>
                    <a:pt x="11743813" y="16891"/>
                  </a:lnTo>
                  <a:lnTo>
                    <a:pt x="11743813" y="33909"/>
                  </a:lnTo>
                  <a:lnTo>
                    <a:pt x="17283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0080" y="3364992"/>
            <a:ext cx="8138160" cy="512064"/>
            <a:chOff x="0" y="0"/>
            <a:chExt cx="1085088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Throttle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3895344"/>
            <a:ext cx="8138160" cy="694944"/>
            <a:chOff x="0" y="0"/>
            <a:chExt cx="1085088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Limits sample rate to 800k to prevent CPU overload during file-based simulation.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14183" y="3242567"/>
            <a:ext cx="8620763" cy="1451867"/>
            <a:chOff x="0" y="0"/>
            <a:chExt cx="11494351" cy="19358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3364992"/>
            <a:ext cx="8138160" cy="512064"/>
            <a:chOff x="0" y="0"/>
            <a:chExt cx="1085088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Multiply + Float-to-Complex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0" y="3895344"/>
            <a:ext cx="8138160" cy="694944"/>
            <a:chOff x="0" y="0"/>
            <a:chExt cx="1085088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Cosine &amp; sine sources (Freq: 21.55 Hz) synthesize a local complex exponential for mixing.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53063" y="4851911"/>
            <a:ext cx="8620763" cy="1451867"/>
            <a:chOff x="0" y="0"/>
            <a:chExt cx="11494351" cy="19358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0080" y="4974336"/>
            <a:ext cx="8138160" cy="512064"/>
            <a:chOff x="0" y="0"/>
            <a:chExt cx="108508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Raised Cosine Filter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40080" y="5504688"/>
            <a:ext cx="8138160" cy="694944"/>
            <a:chOff x="0" y="0"/>
            <a:chExt cx="108508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Matched filter: 600k sample rate, 200k symbol rate, Alpha 350m, 29 taps — reduces ISI.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14183" y="4851911"/>
            <a:ext cx="8620763" cy="1451867"/>
            <a:chOff x="0" y="0"/>
            <a:chExt cx="11494351" cy="193582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4974336"/>
            <a:ext cx="8138160" cy="512064"/>
            <a:chOff x="0" y="0"/>
            <a:chExt cx="108508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Symbol Sync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0" y="5504688"/>
            <a:ext cx="8138160" cy="694944"/>
            <a:chOff x="0" y="0"/>
            <a:chExt cx="10850880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Gardner TED, SPS=3, Loop BW 45m, Damping 1, MMSE 8-tap FIR — recovers symbol timing.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53063" y="6461255"/>
            <a:ext cx="8620763" cy="1451867"/>
            <a:chOff x="0" y="0"/>
            <a:chExt cx="11494351" cy="19358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0080" y="6583680"/>
            <a:ext cx="8138160" cy="512064"/>
            <a:chOff x="0" y="0"/>
            <a:chExt cx="108508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Costas Loop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40080" y="7114032"/>
            <a:ext cx="8138160" cy="694944"/>
            <a:chOff x="0" y="0"/>
            <a:chExt cx="1085088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Phase-frequency tracking, loop BW 30m, order 8 — corrects residual carrier frequency offset.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4183" y="6461255"/>
            <a:ext cx="8620763" cy="1451867"/>
            <a:chOff x="0" y="0"/>
            <a:chExt cx="11494351" cy="19358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601200" y="6583680"/>
            <a:ext cx="8138160" cy="512064"/>
            <a:chOff x="0" y="0"/>
            <a:chExt cx="1085088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Constellation Decoder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0" y="7114032"/>
            <a:ext cx="8138160" cy="694944"/>
            <a:chOff x="0" y="0"/>
            <a:chExt cx="10850880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Decodes 8-PSK symbols using defined constellation object (8 points, soft decision precision 8).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53063" y="8070599"/>
            <a:ext cx="8620763" cy="1451867"/>
            <a:chOff x="0" y="0"/>
            <a:chExt cx="11494351" cy="19358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8193024"/>
            <a:ext cx="8138160" cy="512064"/>
            <a:chOff x="0" y="0"/>
            <a:chExt cx="1085088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Repack Bits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40080" y="8723376"/>
            <a:ext cx="8138160" cy="694944"/>
            <a:chOff x="0" y="0"/>
            <a:chExt cx="1085088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3 bits/input byte to 8 bits/output byte for proper binary file formatting.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14183" y="8070599"/>
            <a:ext cx="8620763" cy="1451867"/>
            <a:chOff x="0" y="0"/>
            <a:chExt cx="11494351" cy="193582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460481" cy="1901952"/>
            </a:xfrm>
            <a:custGeom>
              <a:avLst/>
              <a:gdLst/>
              <a:ahLst/>
              <a:cxnLst/>
              <a:rect r="r" b="b" t="t" l="l"/>
              <a:pathLst>
                <a:path h="1901952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11827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494262" cy="1935734"/>
            </a:xfrm>
            <a:custGeom>
              <a:avLst/>
              <a:gdLst/>
              <a:ahLst/>
              <a:cxnLst/>
              <a:rect r="r" b="b" t="t" l="l"/>
              <a:pathLst>
                <a:path h="1935734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1918843"/>
                  </a:lnTo>
                  <a:cubicBezTo>
                    <a:pt x="11494262" y="1928241"/>
                    <a:pt x="11486642" y="1935734"/>
                    <a:pt x="11477372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11477372" y="1901952"/>
                  </a:lnTo>
                  <a:lnTo>
                    <a:pt x="11477372" y="1918843"/>
                  </a:lnTo>
                  <a:lnTo>
                    <a:pt x="11460480" y="1918843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B2FBE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601200" y="8193024"/>
            <a:ext cx="8138160" cy="512064"/>
            <a:chOff x="0" y="0"/>
            <a:chExt cx="1085088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850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672" r="0" b="-25967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85088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File Sink / GUI Sinks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01200" y="8723376"/>
            <a:ext cx="8138160" cy="694944"/>
            <a:chOff x="0" y="0"/>
            <a:chExt cx="108508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80" r="0" b="-17818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850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Sink saves output.bin. Freq &amp; Constellation sinks display live spectrum for verification.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Constellation Plots &amp;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1096" y="1281629"/>
            <a:ext cx="7498080" cy="548640"/>
            <a:chOff x="0" y="0"/>
            <a:chExt cx="99974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CFO Correction(without costas loop)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64232" y="2639704"/>
            <a:ext cx="1389888" cy="731520"/>
            <a:chOff x="0" y="0"/>
            <a:chExt cx="1853184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53184" cy="975360"/>
            </a:xfrm>
            <a:custGeom>
              <a:avLst/>
              <a:gdLst/>
              <a:ahLst/>
              <a:cxnLst/>
              <a:rect r="r" b="b" t="t" l="l"/>
              <a:pathLst>
                <a:path h="975360" w="1853184">
                  <a:moveTo>
                    <a:pt x="0" y="0"/>
                  </a:moveTo>
                  <a:lnTo>
                    <a:pt x="1853184" y="0"/>
                  </a:lnTo>
                  <a:lnTo>
                    <a:pt x="185318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853184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7B2F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38644" y="3371224"/>
            <a:ext cx="1463040" cy="640080"/>
            <a:chOff x="0" y="0"/>
            <a:chExt cx="1950720" cy="853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50720" cy="853440"/>
            </a:xfrm>
            <a:custGeom>
              <a:avLst/>
              <a:gdLst/>
              <a:ahLst/>
              <a:cxnLst/>
              <a:rect r="r" b="b" t="t" l="l"/>
              <a:pathLst>
                <a:path h="85344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950720" cy="882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CFO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Correct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05096" y="1371600"/>
            <a:ext cx="7498080" cy="548640"/>
            <a:chOff x="0" y="0"/>
            <a:chExt cx="999744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97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CFO Correction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1096" y="7628001"/>
            <a:ext cx="16642080" cy="621792"/>
            <a:chOff x="0" y="0"/>
            <a:chExt cx="22189440" cy="8290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89439" cy="829056"/>
            </a:xfrm>
            <a:custGeom>
              <a:avLst/>
              <a:gdLst/>
              <a:ahLst/>
              <a:cxnLst/>
              <a:rect r="r" b="b" t="t" l="l"/>
              <a:pathLst>
                <a:path h="82905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511" r="0" b="-4715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189440" cy="8862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0644" y="8249793"/>
            <a:ext cx="16642080" cy="2215167"/>
            <a:chOff x="0" y="0"/>
            <a:chExt cx="22189440" cy="29535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89439" cy="2953556"/>
            </a:xfrm>
            <a:custGeom>
              <a:avLst/>
              <a:gdLst/>
              <a:ahLst/>
              <a:cxnLst/>
              <a:rect r="r" b="b" t="t" l="l"/>
              <a:pathLst>
                <a:path h="2953556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2953556"/>
                  </a:lnTo>
                  <a:lnTo>
                    <a:pt x="0" y="29535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293" r="0" b="-10747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189440" cy="2953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E2E8F0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A GNU Radio receiver flowgraph was designed to blindly demodulate an unknown 8-PSK signal using PlutoSDR at 512 kHz sampling rate. Key parameters were estimated from the received IQ waveform:</a:t>
              </a:r>
            </a:p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E2E8F0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Symbol Rate: ~200 kHz | SPS: 2.56 → resampled to 3 | Modulation: 8-PSK | CFO: −21.55 Hz</a:t>
              </a:r>
            </a:p>
            <a:p>
              <a:pPr algn="l">
                <a:lnSpc>
                  <a:spcPts val="2280"/>
                </a:lnSpc>
              </a:pPr>
              <a:r>
                <a:rPr lang="en-US" sz="1900" i="true">
                  <a:solidFill>
                    <a:srgbClr val="E2E8F0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A Rational Resampler corrected the sampling rate from 512 kHz to 600 kHz, yielding an integer SPS of 3. CFO correction at −21.55 Hz aligned the constellation to distinct 8-PSK phase points and the recovered bitstream was saved to output.bin</a:t>
              </a:r>
            </a:p>
            <a:p>
              <a:pPr algn="l">
                <a:lnSpc>
                  <a:spcPts val="228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9705096" y="1952442"/>
            <a:ext cx="6017585" cy="2837563"/>
          </a:xfrm>
          <a:custGeom>
            <a:avLst/>
            <a:gdLst/>
            <a:ahLst/>
            <a:cxnLst/>
            <a:rect r="r" b="b" t="t" l="l"/>
            <a:pathLst>
              <a:path h="2837563" w="6017585">
                <a:moveTo>
                  <a:pt x="0" y="0"/>
                </a:moveTo>
                <a:lnTo>
                  <a:pt x="6017584" y="0"/>
                </a:lnTo>
                <a:lnTo>
                  <a:pt x="6017584" y="2837563"/>
                </a:lnTo>
                <a:lnTo>
                  <a:pt x="0" y="2837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09" t="-672" r="0" b="-11497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80644" y="1920240"/>
            <a:ext cx="5835457" cy="2869765"/>
          </a:xfrm>
          <a:custGeom>
            <a:avLst/>
            <a:gdLst/>
            <a:ahLst/>
            <a:cxnLst/>
            <a:rect r="r" b="b" t="t" l="l"/>
            <a:pathLst>
              <a:path h="2869765" w="5835457">
                <a:moveTo>
                  <a:pt x="0" y="0"/>
                </a:moveTo>
                <a:lnTo>
                  <a:pt x="5835457" y="0"/>
                </a:lnTo>
                <a:lnTo>
                  <a:pt x="5835457" y="2869765"/>
                </a:lnTo>
                <a:lnTo>
                  <a:pt x="0" y="28697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498" r="-3579" b="-449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057198" y="5110810"/>
            <a:ext cx="7042233" cy="2818177"/>
          </a:xfrm>
          <a:custGeom>
            <a:avLst/>
            <a:gdLst/>
            <a:ahLst/>
            <a:cxnLst/>
            <a:rect r="r" b="b" t="t" l="l"/>
            <a:pathLst>
              <a:path h="2818177" w="7042233">
                <a:moveTo>
                  <a:pt x="0" y="0"/>
                </a:moveTo>
                <a:lnTo>
                  <a:pt x="7042232" y="0"/>
                </a:lnTo>
                <a:lnTo>
                  <a:pt x="7042232" y="2818178"/>
                </a:lnTo>
                <a:lnTo>
                  <a:pt x="0" y="2818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8" r="-371" b="-3292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28700" y="5611025"/>
            <a:ext cx="3795175" cy="1195955"/>
            <a:chOff x="0" y="0"/>
            <a:chExt cx="5060233" cy="15946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60233" cy="1594607"/>
            </a:xfrm>
            <a:custGeom>
              <a:avLst/>
              <a:gdLst/>
              <a:ahLst/>
              <a:cxnLst/>
              <a:rect r="r" b="b" t="t" l="l"/>
              <a:pathLst>
                <a:path h="1594607" w="5060233">
                  <a:moveTo>
                    <a:pt x="0" y="0"/>
                  </a:moveTo>
                  <a:lnTo>
                    <a:pt x="5060233" y="0"/>
                  </a:lnTo>
                  <a:lnTo>
                    <a:pt x="5060233" y="1594607"/>
                  </a:lnTo>
                  <a:lnTo>
                    <a:pt x="0" y="1594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144" r="-338506" b="-1971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5060233" cy="1651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CFO correction flowgraph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DAHHFOkUw9A</dc:identifier>
  <dcterms:modified xsi:type="dcterms:W3CDTF">2011-08-01T06:04:30Z</dcterms:modified>
  <cp:revision>1</cp:revision>
  <dc:title>SDR_Receiver_Tejaswini.pptx</dc:title>
</cp:coreProperties>
</file>
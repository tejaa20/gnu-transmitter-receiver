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38" d="100"/>
          <a:sy n="38" d="100"/>
        </p:scale>
        <p:origin x="2288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740410"/>
            <a:ext cx="5463540" cy="1744980"/>
          </a:xfrm>
          <a:prstGeom prst="rect">
            <a:avLst/>
          </a:prstGeom>
        </p:spPr>
        <p:txBody>
          <a:bodyPr vert="horz" wrap="square" lIns="0" tIns="163195" rIns="0" bIns="0" rtlCol="0">
            <a:spAutoFit/>
          </a:bodyPr>
          <a:lstStyle/>
          <a:p>
            <a:pPr marL="1769745">
              <a:lnSpc>
                <a:spcPct val="100000"/>
              </a:lnSpc>
              <a:spcBef>
                <a:spcPts val="1285"/>
              </a:spcBef>
            </a:pPr>
            <a:r>
              <a:rPr sz="1800" b="1" dirty="0">
                <a:latin typeface="Calibri"/>
                <a:cs typeface="Calibri"/>
              </a:rPr>
              <a:t>TRANSMITTER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DESIGN</a:t>
            </a:r>
            <a:endParaRPr sz="1800">
              <a:latin typeface="Calibri"/>
              <a:cs typeface="Calibri"/>
            </a:endParaRPr>
          </a:p>
          <a:p>
            <a:pPr marL="1821814">
              <a:lnSpc>
                <a:spcPct val="100000"/>
              </a:lnSpc>
              <a:spcBef>
                <a:spcPts val="1190"/>
              </a:spcBef>
            </a:pPr>
            <a:r>
              <a:rPr sz="1800" b="1" dirty="0">
                <a:latin typeface="Calibri"/>
                <a:cs typeface="Calibri"/>
              </a:rPr>
              <a:t>EE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332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COURSE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PROJECT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17500"/>
              </a:lnSpc>
              <a:spcBef>
                <a:spcPts val="960"/>
              </a:spcBef>
            </a:pPr>
            <a:r>
              <a:rPr sz="1200" b="1" spc="-10" dirty="0">
                <a:latin typeface="Calibri"/>
                <a:cs typeface="Calibri"/>
              </a:rPr>
              <a:t>Question-</a:t>
            </a:r>
            <a:r>
              <a:rPr sz="1200" b="1" dirty="0">
                <a:latin typeface="Calibri"/>
                <a:cs typeface="Calibri"/>
              </a:rPr>
              <a:t>1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: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Design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a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transmitter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in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GNU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Radio</a:t>
            </a:r>
            <a:r>
              <a:rPr sz="1200" b="1" spc="-10" dirty="0">
                <a:latin typeface="Calibri"/>
                <a:cs typeface="Calibri"/>
              </a:rPr>
              <a:t> Companion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(GRC)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that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is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capable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spc="-25" dirty="0">
                <a:latin typeface="Calibri"/>
                <a:cs typeface="Calibri"/>
              </a:rPr>
              <a:t>of </a:t>
            </a:r>
            <a:r>
              <a:rPr sz="1200" b="1" spc="-10" dirty="0">
                <a:latin typeface="Calibri"/>
                <a:cs typeface="Calibri"/>
              </a:rPr>
              <a:t>transmitting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a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8QAM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modulated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signal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using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an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ADALM-</a:t>
            </a:r>
            <a:r>
              <a:rPr sz="1200" b="1" dirty="0">
                <a:latin typeface="Calibri"/>
                <a:cs typeface="Calibri"/>
              </a:rPr>
              <a:t>Pluto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SDR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with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specifications.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sz="1200" b="1" spc="-10" dirty="0">
                <a:latin typeface="Calibri"/>
                <a:cs typeface="Calibri"/>
              </a:rPr>
              <a:t>FLOWGRAPH</a:t>
            </a:r>
            <a:r>
              <a:rPr sz="1200" b="1" spc="-5" dirty="0">
                <a:latin typeface="Calibri"/>
                <a:cs typeface="Calibri"/>
              </a:rPr>
              <a:t> </a:t>
            </a:r>
            <a:r>
              <a:rPr sz="1200" b="1" spc="-50" dirty="0">
                <a:latin typeface="Calibri"/>
                <a:cs typeface="Calibri"/>
              </a:rPr>
              <a:t>: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4306950"/>
            <a:ext cx="5687060" cy="2889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Calibri"/>
                <a:cs typeface="Calibri"/>
              </a:rPr>
              <a:t>Procedure</a:t>
            </a:r>
            <a:r>
              <a:rPr sz="1200" b="1" dirty="0">
                <a:latin typeface="Calibri"/>
                <a:cs typeface="Calibri"/>
              </a:rPr>
              <a:t> </a:t>
            </a:r>
            <a:r>
              <a:rPr sz="1200" b="1" spc="-50" dirty="0">
                <a:latin typeface="Calibri"/>
                <a:cs typeface="Calibri"/>
              </a:rPr>
              <a:t>:</a:t>
            </a:r>
            <a:endParaRPr sz="12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1055"/>
              </a:spcBef>
              <a:buAutoNum type="arabicPeriod"/>
              <a:tabLst>
                <a:tab pos="469900" algn="l"/>
              </a:tabLst>
            </a:pPr>
            <a:r>
              <a:rPr sz="1200" b="1" dirty="0">
                <a:latin typeface="Calibri"/>
                <a:cs typeface="Calibri"/>
              </a:rPr>
              <a:t>Random</a:t>
            </a:r>
            <a:r>
              <a:rPr sz="1200" b="1" spc="-3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Source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generates</a:t>
            </a:r>
            <a:r>
              <a:rPr sz="1200" b="1" spc="-3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integers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0–7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for</a:t>
            </a:r>
            <a:r>
              <a:rPr sz="1200" b="1" spc="-3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8-</a:t>
            </a:r>
            <a:r>
              <a:rPr sz="1200" b="1" spc="-25" dirty="0">
                <a:latin typeface="Calibri"/>
                <a:cs typeface="Calibri"/>
              </a:rPr>
              <a:t>QAM</a:t>
            </a:r>
            <a:endParaRPr sz="12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250"/>
              </a:spcBef>
              <a:buAutoNum type="arabicPeriod"/>
              <a:tabLst>
                <a:tab pos="469900" algn="l"/>
              </a:tabLst>
            </a:pPr>
            <a:r>
              <a:rPr sz="1200" b="1" dirty="0">
                <a:latin typeface="Calibri"/>
                <a:cs typeface="Calibri"/>
              </a:rPr>
              <a:t>Chunks</a:t>
            </a:r>
            <a:r>
              <a:rPr sz="1200" b="1" spc="-4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to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Symbols</a:t>
            </a:r>
            <a:r>
              <a:rPr sz="1200" b="1" spc="-4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→Maps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integers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to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8-QAM</a:t>
            </a:r>
            <a:r>
              <a:rPr sz="1200" b="1" spc="-3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IQ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points</a:t>
            </a:r>
            <a:endParaRPr sz="12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254"/>
              </a:spcBef>
              <a:buAutoNum type="arabicPeriod"/>
              <a:tabLst>
                <a:tab pos="469900" algn="l"/>
              </a:tabLst>
            </a:pPr>
            <a:r>
              <a:rPr sz="1200" b="1" dirty="0">
                <a:latin typeface="Calibri"/>
                <a:cs typeface="Calibri"/>
              </a:rPr>
              <a:t>RRC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Filter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→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Pulse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shaping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and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interpolation </a:t>
            </a:r>
            <a:r>
              <a:rPr sz="1200" b="1" dirty="0">
                <a:latin typeface="Calibri"/>
                <a:cs typeface="Calibri"/>
              </a:rPr>
              <a:t>(symbol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rate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=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100kHz,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sps</a:t>
            </a:r>
            <a:r>
              <a:rPr sz="1200" b="1" spc="-4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=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5.12)</a:t>
            </a:r>
            <a:endParaRPr sz="1200">
              <a:latin typeface="Calibri"/>
              <a:cs typeface="Calibri"/>
            </a:endParaRPr>
          </a:p>
          <a:p>
            <a:pPr marL="469265" marR="5080" indent="-228600">
              <a:lnSpc>
                <a:spcPct val="117600"/>
              </a:lnSpc>
              <a:spcBef>
                <a:spcPts val="10"/>
              </a:spcBef>
              <a:buAutoNum type="arabicPeriod"/>
              <a:tabLst>
                <a:tab pos="469265" algn="l"/>
              </a:tabLst>
            </a:pPr>
            <a:r>
              <a:rPr sz="1200" b="1" dirty="0">
                <a:latin typeface="Calibri"/>
                <a:cs typeface="Calibri"/>
              </a:rPr>
              <a:t>Rational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Resampler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→The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sps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of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5.12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is</a:t>
            </a:r>
            <a:r>
              <a:rPr sz="1200" b="1" spc="-3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not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an</a:t>
            </a:r>
            <a:r>
              <a:rPr sz="1200" b="1" spc="-20" dirty="0">
                <a:latin typeface="Calibri"/>
                <a:cs typeface="Calibri"/>
              </a:rPr>
              <a:t> integer, </a:t>
            </a:r>
            <a:r>
              <a:rPr sz="1200" b="1" dirty="0">
                <a:latin typeface="Calibri"/>
                <a:cs typeface="Calibri"/>
              </a:rPr>
              <a:t>so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you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use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sps=5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in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the</a:t>
            </a:r>
            <a:r>
              <a:rPr sz="1200" b="1" spc="-25" dirty="0">
                <a:latin typeface="Calibri"/>
                <a:cs typeface="Calibri"/>
              </a:rPr>
              <a:t> RRC </a:t>
            </a:r>
            <a:r>
              <a:rPr sz="1200" b="1" dirty="0">
                <a:latin typeface="Calibri"/>
                <a:cs typeface="Calibri"/>
              </a:rPr>
              <a:t>filter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and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compensate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with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the</a:t>
            </a:r>
            <a:r>
              <a:rPr sz="1200" b="1" spc="-3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to</a:t>
            </a:r>
            <a:r>
              <a:rPr sz="1200" b="1" spc="-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get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the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true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512k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sample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rate.</a:t>
            </a:r>
            <a:endParaRPr sz="12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265"/>
              </a:spcBef>
              <a:buAutoNum type="arabicPeriod"/>
              <a:tabLst>
                <a:tab pos="469900" algn="l"/>
              </a:tabLst>
            </a:pPr>
            <a:r>
              <a:rPr sz="1200" b="1" dirty="0">
                <a:latin typeface="Calibri"/>
                <a:cs typeface="Calibri"/>
              </a:rPr>
              <a:t>Multiply</a:t>
            </a:r>
            <a:r>
              <a:rPr sz="1200" b="1" spc="-4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Const</a:t>
            </a:r>
            <a:r>
              <a:rPr sz="1200" b="1" spc="-3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→to</a:t>
            </a:r>
            <a:r>
              <a:rPr sz="1200" b="1" spc="-4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keep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the</a:t>
            </a:r>
            <a:r>
              <a:rPr sz="1200" b="1" spc="-4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IQ</a:t>
            </a:r>
            <a:r>
              <a:rPr sz="1200" b="1" spc="-4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samples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within</a:t>
            </a:r>
            <a:r>
              <a:rPr sz="1200" b="1" spc="-5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the</a:t>
            </a:r>
            <a:r>
              <a:rPr sz="1200" b="1" spc="-3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range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of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PlutoSDR</a:t>
            </a:r>
            <a:r>
              <a:rPr sz="1200" b="1" spc="-3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driver</a:t>
            </a:r>
            <a:endParaRPr sz="1200">
              <a:latin typeface="Calibri"/>
              <a:cs typeface="Calibri"/>
            </a:endParaRPr>
          </a:p>
          <a:p>
            <a:pPr marL="469265" marR="227329" indent="-228600">
              <a:lnSpc>
                <a:spcPct val="100000"/>
              </a:lnSpc>
              <a:spcBef>
                <a:spcPts val="250"/>
              </a:spcBef>
              <a:buAutoNum type="arabicPeriod"/>
              <a:tabLst>
                <a:tab pos="469265" algn="l"/>
              </a:tabLst>
            </a:pPr>
            <a:r>
              <a:rPr sz="1200" b="1" dirty="0">
                <a:latin typeface="Times New Roman"/>
                <a:cs typeface="Times New Roman"/>
              </a:rPr>
              <a:t>PlutoSDR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Sink</a:t>
            </a:r>
            <a:r>
              <a:rPr sz="1200" b="1" dirty="0">
                <a:latin typeface="Calibri"/>
                <a:cs typeface="Calibri"/>
              </a:rPr>
              <a:t>→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RF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output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block,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sends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IQ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samples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physical ADALM-</a:t>
            </a:r>
            <a:r>
              <a:rPr sz="1200" dirty="0">
                <a:latin typeface="Times New Roman"/>
                <a:cs typeface="Times New Roman"/>
              </a:rPr>
              <a:t>Pluto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hardware.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70"/>
              </a:spcBef>
            </a:pPr>
            <a:r>
              <a:rPr sz="1200" b="1" spc="-20" dirty="0">
                <a:latin typeface="Calibri"/>
                <a:cs typeface="Calibri"/>
              </a:rPr>
              <a:t>RESULTS</a:t>
            </a:r>
            <a:r>
              <a:rPr sz="1200" b="1" spc="-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and </a:t>
            </a:r>
            <a:r>
              <a:rPr sz="1200" b="1" spc="-20" dirty="0">
                <a:latin typeface="Calibri"/>
                <a:cs typeface="Calibri"/>
              </a:rPr>
              <a:t>ANALYSIS</a:t>
            </a:r>
            <a:r>
              <a:rPr sz="1200" b="1" spc="-5" dirty="0">
                <a:latin typeface="Calibri"/>
                <a:cs typeface="Calibri"/>
              </a:rPr>
              <a:t> </a:t>
            </a:r>
            <a:r>
              <a:rPr sz="1200" b="1" spc="-50" dirty="0">
                <a:latin typeface="Calibri"/>
                <a:cs typeface="Calibri"/>
              </a:rPr>
              <a:t>: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sz="1200" b="1" spc="-10" dirty="0">
                <a:latin typeface="Calibri"/>
                <a:cs typeface="Calibri"/>
              </a:rPr>
              <a:t>Constellation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sink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:</a:t>
            </a:r>
            <a:r>
              <a:rPr sz="1200" b="1" spc="-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8-</a:t>
            </a:r>
            <a:r>
              <a:rPr sz="1200" b="1" dirty="0">
                <a:latin typeface="Calibri"/>
                <a:cs typeface="Calibri"/>
              </a:rPr>
              <a:t>QAM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constellation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at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symbol</a:t>
            </a:r>
            <a:r>
              <a:rPr sz="1200" b="1" spc="-1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rate and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we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get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8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distinct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IQ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points.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1200" dirty="0">
                <a:latin typeface="Calibri"/>
                <a:cs typeface="Calibri"/>
              </a:rPr>
              <a:t>Fequency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sink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:Baseband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signal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with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bandwidth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=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symbol_rate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×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(1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+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alpha)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=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135</a:t>
            </a:r>
            <a:r>
              <a:rPr sz="1200" spc="-20" dirty="0">
                <a:latin typeface="Calibri"/>
                <a:cs typeface="Calibri"/>
              </a:rPr>
              <a:t> kHz.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8855" y="2613786"/>
            <a:ext cx="5088255" cy="144307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7223137"/>
            <a:ext cx="4769993" cy="25044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61821"/>
            <a:ext cx="5629275" cy="772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7600"/>
              </a:lnSpc>
              <a:spcBef>
                <a:spcPts val="100"/>
              </a:spcBef>
            </a:pPr>
            <a:r>
              <a:rPr sz="1200" b="1" spc="-10" dirty="0">
                <a:latin typeface="Calibri"/>
                <a:cs typeface="Calibri"/>
              </a:rPr>
              <a:t>Question2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:</a:t>
            </a:r>
            <a:r>
              <a:rPr sz="1200" b="1" spc="1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Design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a</a:t>
            </a:r>
            <a:r>
              <a:rPr sz="1200" b="1" spc="-3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transmitter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using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a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binary</a:t>
            </a:r>
            <a:r>
              <a:rPr sz="1200" b="1" spc="-3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file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source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as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the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input,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where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the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source </a:t>
            </a:r>
            <a:r>
              <a:rPr sz="1200" b="1" dirty="0">
                <a:latin typeface="Calibri"/>
                <a:cs typeface="Calibri"/>
              </a:rPr>
              <a:t>contains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sequences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of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bit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streams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corresponding</a:t>
            </a:r>
            <a:r>
              <a:rPr sz="1200" b="1" spc="-3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to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a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modulated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signal(A→B→C→D)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sz="1200" dirty="0">
                <a:latin typeface="Calibri"/>
                <a:cs typeface="Calibri"/>
              </a:rPr>
              <a:t>Flow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graph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50" dirty="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3520566"/>
            <a:ext cx="5750560" cy="2452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Procedure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50" dirty="0">
                <a:latin typeface="Calibri"/>
                <a:cs typeface="Calibri"/>
              </a:rPr>
              <a:t>:</a:t>
            </a:r>
            <a:endParaRPr sz="1200">
              <a:latin typeface="Calibri"/>
              <a:cs typeface="Calibri"/>
            </a:endParaRPr>
          </a:p>
          <a:p>
            <a:pPr marL="470534" indent="-229235">
              <a:lnSpc>
                <a:spcPct val="100000"/>
              </a:lnSpc>
              <a:spcBef>
                <a:spcPts val="1055"/>
              </a:spcBef>
              <a:buAutoNum type="arabicPeriod"/>
              <a:tabLst>
                <a:tab pos="470534" algn="l"/>
              </a:tabLst>
            </a:pPr>
            <a:r>
              <a:rPr sz="1200" dirty="0">
                <a:latin typeface="Calibri"/>
                <a:cs typeface="Calibri"/>
              </a:rPr>
              <a:t>a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File</a:t>
            </a:r>
            <a:r>
              <a:rPr sz="1200" b="1" spc="-3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Source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block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with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binary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sequence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input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file(generated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by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python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code)</a:t>
            </a:r>
            <a:endParaRPr sz="1200">
              <a:latin typeface="Calibri"/>
              <a:cs typeface="Calibri"/>
            </a:endParaRPr>
          </a:p>
          <a:p>
            <a:pPr marL="470534" indent="-229235">
              <a:lnSpc>
                <a:spcPct val="100000"/>
              </a:lnSpc>
              <a:spcBef>
                <a:spcPts val="250"/>
              </a:spcBef>
              <a:buAutoNum type="arabicPeriod"/>
              <a:tabLst>
                <a:tab pos="470534" algn="l"/>
              </a:tabLst>
            </a:pPr>
            <a:r>
              <a:rPr sz="1200" dirty="0">
                <a:latin typeface="Calibri"/>
                <a:cs typeface="Calibri"/>
              </a:rPr>
              <a:t>Remaining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all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blocks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are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similar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question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-</a:t>
            </a:r>
            <a:r>
              <a:rPr sz="1200" spc="-25" dirty="0">
                <a:latin typeface="Calibri"/>
                <a:cs typeface="Calibri"/>
              </a:rPr>
              <a:t>1.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sz="1200" dirty="0">
                <a:latin typeface="Calibri"/>
                <a:cs typeface="Calibri"/>
              </a:rPr>
              <a:t>Results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Analysis</a:t>
            </a:r>
            <a:r>
              <a:rPr sz="1200" spc="-50" dirty="0">
                <a:latin typeface="Calibri"/>
                <a:cs typeface="Calibri"/>
              </a:rPr>
              <a:t> :</a:t>
            </a:r>
            <a:endParaRPr sz="1200">
              <a:latin typeface="Calibri"/>
              <a:cs typeface="Calibri"/>
            </a:endParaRPr>
          </a:p>
          <a:p>
            <a:pPr marL="469265" marR="5080" lvl="1" indent="-228600">
              <a:lnSpc>
                <a:spcPct val="117900"/>
              </a:lnSpc>
              <a:spcBef>
                <a:spcPts val="795"/>
              </a:spcBef>
              <a:buAutoNum type="arabicPeriod"/>
              <a:tabLst>
                <a:tab pos="469265" algn="l"/>
              </a:tabLst>
            </a:pPr>
            <a:r>
              <a:rPr sz="1200" spc="-10" dirty="0">
                <a:latin typeface="Calibri"/>
                <a:cs typeface="Calibri"/>
              </a:rPr>
              <a:t>For</a:t>
            </a:r>
            <a:r>
              <a:rPr sz="1200" b="1" spc="-10" dirty="0">
                <a:latin typeface="Calibri"/>
                <a:cs typeface="Calibri"/>
              </a:rPr>
              <a:t>A→B→C→D,constellation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sink</a:t>
            </a:r>
            <a:r>
              <a:rPr sz="1200" b="1" spc="-4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is</a:t>
            </a:r>
            <a:r>
              <a:rPr sz="1200" b="1" spc="-3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only</a:t>
            </a:r>
            <a:r>
              <a:rPr sz="1200" b="1" spc="-3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four</a:t>
            </a:r>
            <a:r>
              <a:rPr sz="1200" b="1" spc="-4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points</a:t>
            </a:r>
            <a:r>
              <a:rPr sz="1200" b="1" spc="-4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like</a:t>
            </a:r>
            <a:r>
              <a:rPr sz="1200" b="1" spc="-3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corners</a:t>
            </a:r>
            <a:r>
              <a:rPr sz="1200" b="1" spc="-3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of</a:t>
            </a:r>
            <a:r>
              <a:rPr sz="1200" b="1" spc="-4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square</a:t>
            </a:r>
            <a:r>
              <a:rPr sz="1200" b="1" spc="-3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of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side</a:t>
            </a:r>
            <a:r>
              <a:rPr sz="1200" b="1" spc="-40" dirty="0">
                <a:latin typeface="Calibri"/>
                <a:cs typeface="Calibri"/>
              </a:rPr>
              <a:t> </a:t>
            </a:r>
            <a:r>
              <a:rPr sz="1200" b="1" spc="-25" dirty="0">
                <a:latin typeface="Calibri"/>
                <a:cs typeface="Calibri"/>
              </a:rPr>
              <a:t>2.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frequency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sink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peak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25kHz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100KHz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apart</a:t>
            </a:r>
            <a:r>
              <a:rPr sz="1200" spc="229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frequencies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with</a:t>
            </a:r>
            <a:r>
              <a:rPr sz="1200" spc="-10" dirty="0">
                <a:latin typeface="Calibri"/>
                <a:cs typeface="Calibri"/>
              </a:rPr>
              <a:t> decreasing </a:t>
            </a:r>
            <a:r>
              <a:rPr sz="1200" dirty="0">
                <a:latin typeface="Calibri"/>
                <a:cs typeface="Calibri"/>
              </a:rPr>
              <a:t>gain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either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side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(100/4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=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25)</a:t>
            </a:r>
            <a:endParaRPr sz="1200">
              <a:latin typeface="Calibri"/>
              <a:cs typeface="Calibri"/>
            </a:endParaRPr>
          </a:p>
          <a:p>
            <a:pPr marL="469265" marR="159385" lvl="1" indent="-228600">
              <a:lnSpc>
                <a:spcPts val="1710"/>
              </a:lnSpc>
              <a:spcBef>
                <a:spcPts val="85"/>
              </a:spcBef>
              <a:buAutoNum type="arabicPeriod"/>
              <a:tabLst>
                <a:tab pos="469265" algn="l"/>
              </a:tabLst>
            </a:pPr>
            <a:r>
              <a:rPr sz="1200" dirty="0">
                <a:latin typeface="Calibri"/>
                <a:cs typeface="Calibri"/>
              </a:rPr>
              <a:t>For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A→C→A→C,</a:t>
            </a:r>
            <a:r>
              <a:rPr sz="1200" b="1" spc="-10" dirty="0">
                <a:latin typeface="Calibri"/>
                <a:cs typeface="Calibri"/>
              </a:rPr>
              <a:t> constellation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sink</a:t>
            </a:r>
            <a:r>
              <a:rPr sz="1200" b="1" spc="-3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in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only</a:t>
            </a:r>
            <a:r>
              <a:rPr sz="1200" b="1" spc="-3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2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points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diagonal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to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each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other. </a:t>
            </a:r>
            <a:r>
              <a:rPr sz="1200" b="1" dirty="0">
                <a:latin typeface="Calibri"/>
                <a:cs typeface="Calibri"/>
              </a:rPr>
              <a:t>Frequency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sink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is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peaks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at</a:t>
            </a:r>
            <a:r>
              <a:rPr sz="1200" b="1" spc="-1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50kHz</a:t>
            </a:r>
            <a:r>
              <a:rPr sz="1200" b="1" spc="-10" dirty="0">
                <a:latin typeface="Calibri"/>
                <a:cs typeface="Calibri"/>
              </a:rPr>
              <a:t> and-</a:t>
            </a:r>
            <a:r>
              <a:rPr sz="1200" b="1" dirty="0">
                <a:latin typeface="Calibri"/>
                <a:cs typeface="Calibri"/>
              </a:rPr>
              <a:t>50KHz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and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others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at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harmonics(100/2 </a:t>
            </a:r>
            <a:r>
              <a:rPr sz="1200" b="1" dirty="0">
                <a:latin typeface="Calibri"/>
                <a:cs typeface="Calibri"/>
              </a:rPr>
              <a:t>=</a:t>
            </a:r>
            <a:r>
              <a:rPr sz="1200" b="1" spc="-25" dirty="0">
                <a:latin typeface="Calibri"/>
                <a:cs typeface="Calibri"/>
              </a:rPr>
              <a:t> 50)</a:t>
            </a:r>
            <a:endParaRPr sz="1200">
              <a:latin typeface="Calibri"/>
              <a:cs typeface="Calibri"/>
            </a:endParaRPr>
          </a:p>
          <a:p>
            <a:pPr marL="470534" lvl="1" indent="-229235">
              <a:lnSpc>
                <a:spcPct val="100000"/>
              </a:lnSpc>
              <a:spcBef>
                <a:spcPts val="145"/>
              </a:spcBef>
              <a:buFont typeface="Calibri"/>
              <a:buAutoNum type="arabicPeriod"/>
              <a:tabLst>
                <a:tab pos="470534" algn="l"/>
              </a:tabLst>
            </a:pPr>
            <a:r>
              <a:rPr sz="1200" b="1" dirty="0">
                <a:latin typeface="Calibri"/>
                <a:cs typeface="Calibri"/>
              </a:rPr>
              <a:t>For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A→A→A→A,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constellation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sink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in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only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1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point.Frequency </a:t>
            </a:r>
            <a:r>
              <a:rPr sz="1200" b="1" dirty="0">
                <a:latin typeface="Calibri"/>
                <a:cs typeface="Calibri"/>
              </a:rPr>
              <a:t>sink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is</a:t>
            </a:r>
            <a:r>
              <a:rPr sz="1200" b="1" spc="-1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peak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at</a:t>
            </a:r>
            <a:r>
              <a:rPr sz="1200" b="1" spc="-1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0</a:t>
            </a:r>
            <a:r>
              <a:rPr sz="1200" b="1" spc="-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Hz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spc="-50" dirty="0">
                <a:latin typeface="Calibri"/>
                <a:cs typeface="Calibri"/>
              </a:rPr>
              <a:t>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764791"/>
            <a:ext cx="3484245" cy="161628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1600" y="6214998"/>
            <a:ext cx="5228590" cy="137655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71600" y="8039798"/>
            <a:ext cx="5251450" cy="15430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9153" y="861821"/>
            <a:ext cx="5212080" cy="88709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8000"/>
              </a:lnSpc>
              <a:spcBef>
                <a:spcPts val="95"/>
              </a:spcBef>
            </a:pPr>
            <a:r>
              <a:rPr sz="1200" b="1" spc="-10" dirty="0">
                <a:latin typeface="Calibri"/>
                <a:cs typeface="Calibri"/>
              </a:rPr>
              <a:t>Question-</a:t>
            </a:r>
            <a:r>
              <a:rPr sz="1200" b="1" dirty="0">
                <a:latin typeface="Calibri"/>
                <a:cs typeface="Calibri"/>
              </a:rPr>
              <a:t>3</a:t>
            </a:r>
            <a:r>
              <a:rPr sz="1200" b="1" spc="-3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: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Using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the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transmitter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flowgraph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designed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in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part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2,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implement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spc="-50" dirty="0">
                <a:latin typeface="Calibri"/>
                <a:cs typeface="Calibri"/>
              </a:rPr>
              <a:t>a </a:t>
            </a:r>
            <a:r>
              <a:rPr sz="1200" b="1" dirty="0">
                <a:latin typeface="Calibri"/>
                <a:cs typeface="Calibri"/>
              </a:rPr>
              <a:t>receiver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under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ideal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loopback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conditions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by</a:t>
            </a:r>
            <a:r>
              <a:rPr sz="1200" b="1" spc="-3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feeding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the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transmitted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signal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directly </a:t>
            </a:r>
            <a:r>
              <a:rPr sz="1200" b="1" dirty="0">
                <a:latin typeface="Calibri"/>
                <a:cs typeface="Calibri"/>
              </a:rPr>
              <a:t>to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the</a:t>
            </a:r>
            <a:r>
              <a:rPr sz="1200" b="1" spc="-3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receiver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input.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1200" b="1" spc="-10" dirty="0">
                <a:latin typeface="Calibri"/>
                <a:cs typeface="Calibri"/>
              </a:rPr>
              <a:t>Flowgraph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spc="-50" dirty="0">
                <a:latin typeface="Calibri"/>
                <a:cs typeface="Calibri"/>
              </a:rPr>
              <a:t>: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59153" y="3677537"/>
            <a:ext cx="5190490" cy="311023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1200" b="1" spc="-10" dirty="0">
                <a:latin typeface="Calibri"/>
                <a:cs typeface="Calibri"/>
              </a:rPr>
              <a:t>Procedure</a:t>
            </a:r>
            <a:r>
              <a:rPr sz="1200" b="1" dirty="0">
                <a:latin typeface="Calibri"/>
                <a:cs typeface="Calibri"/>
              </a:rPr>
              <a:t> </a:t>
            </a:r>
            <a:r>
              <a:rPr sz="1200" b="1" spc="-50" dirty="0">
                <a:latin typeface="Calibri"/>
                <a:cs typeface="Calibri"/>
              </a:rPr>
              <a:t>:</a:t>
            </a:r>
            <a:endParaRPr sz="1200">
              <a:latin typeface="Calibri"/>
              <a:cs typeface="Calibri"/>
            </a:endParaRPr>
          </a:p>
          <a:p>
            <a:pPr marL="241300" marR="169545" indent="-228600">
              <a:lnSpc>
                <a:spcPct val="117800"/>
              </a:lnSpc>
              <a:spcBef>
                <a:spcPts val="5"/>
              </a:spcBef>
              <a:buAutoNum type="arabicPeriod"/>
              <a:tabLst>
                <a:tab pos="241300" algn="l"/>
              </a:tabLst>
            </a:pPr>
            <a:r>
              <a:rPr sz="1200" dirty="0">
                <a:latin typeface="Calibri"/>
                <a:cs typeface="Calibri"/>
              </a:rPr>
              <a:t>The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transmitted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baseband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signal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fed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directly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back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into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receiver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without </a:t>
            </a:r>
            <a:r>
              <a:rPr sz="1200" dirty="0">
                <a:latin typeface="Calibri"/>
                <a:cs typeface="Calibri"/>
              </a:rPr>
              <a:t>going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through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any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real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RF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channel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—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no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noise,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no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frequency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offset,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no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timing </a:t>
            </a:r>
            <a:r>
              <a:rPr sz="1200" spc="-20" dirty="0">
                <a:latin typeface="Calibri"/>
                <a:cs typeface="Calibri"/>
              </a:rPr>
              <a:t>error,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no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phase</a:t>
            </a:r>
            <a:r>
              <a:rPr sz="1200" spc="-20" dirty="0">
                <a:latin typeface="Calibri"/>
                <a:cs typeface="Calibri"/>
              </a:rPr>
              <a:t> error.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receiver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reverses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every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step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transmitter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did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to </a:t>
            </a:r>
            <a:r>
              <a:rPr sz="1200" dirty="0">
                <a:latin typeface="Calibri"/>
                <a:cs typeface="Calibri"/>
              </a:rPr>
              <a:t>recover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original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bitstream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save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file.</a:t>
            </a:r>
            <a:endParaRPr sz="1200">
              <a:latin typeface="Calibri"/>
              <a:cs typeface="Calibri"/>
            </a:endParaRPr>
          </a:p>
          <a:p>
            <a:pPr marL="241935" indent="-229235">
              <a:lnSpc>
                <a:spcPct val="100000"/>
              </a:lnSpc>
              <a:spcBef>
                <a:spcPts val="250"/>
              </a:spcBef>
              <a:buAutoNum type="arabicPeriod"/>
              <a:tabLst>
                <a:tab pos="241935" algn="l"/>
              </a:tabLst>
            </a:pPr>
            <a:r>
              <a:rPr sz="1200" dirty="0">
                <a:latin typeface="Calibri"/>
                <a:cs typeface="Calibri"/>
              </a:rPr>
              <a:t>Resampler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root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raised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cosine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are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exactly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used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again.</a:t>
            </a:r>
            <a:endParaRPr sz="1200">
              <a:latin typeface="Calibri"/>
              <a:cs typeface="Calibri"/>
            </a:endParaRPr>
          </a:p>
          <a:p>
            <a:pPr marL="241935" indent="-229235">
              <a:lnSpc>
                <a:spcPct val="100000"/>
              </a:lnSpc>
              <a:spcBef>
                <a:spcPts val="265"/>
              </a:spcBef>
              <a:buAutoNum type="arabicPeriod"/>
              <a:tabLst>
                <a:tab pos="241935" algn="l"/>
              </a:tabLst>
            </a:pPr>
            <a:r>
              <a:rPr sz="1200" dirty="0">
                <a:latin typeface="Calibri"/>
                <a:cs typeface="Calibri"/>
              </a:rPr>
              <a:t>Multiply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Const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(0.734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−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0.698j).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corrects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overall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complex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amplitude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scaling</a:t>
            </a:r>
            <a:endParaRPr sz="12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25"/>
              </a:spcBef>
            </a:pPr>
            <a:r>
              <a:rPr sz="1200" dirty="0">
                <a:latin typeface="Calibri"/>
                <a:cs typeface="Calibri"/>
              </a:rPr>
              <a:t>introduced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by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transmitter.</a:t>
            </a:r>
            <a:endParaRPr sz="1200">
              <a:latin typeface="Calibri"/>
              <a:cs typeface="Calibri"/>
            </a:endParaRPr>
          </a:p>
          <a:p>
            <a:pPr marL="238125" indent="-225425">
              <a:lnSpc>
                <a:spcPct val="100000"/>
              </a:lnSpc>
              <a:spcBef>
                <a:spcPts val="20"/>
              </a:spcBef>
              <a:buAutoNum type="arabicPeriod" startAt="4"/>
              <a:tabLst>
                <a:tab pos="238125" algn="l"/>
              </a:tabLst>
            </a:pPr>
            <a:r>
              <a:rPr sz="1350" dirty="0">
                <a:latin typeface="Calibri"/>
                <a:cs typeface="Calibri"/>
              </a:rPr>
              <a:t>Constellation</a:t>
            </a:r>
            <a:r>
              <a:rPr sz="1350" spc="-5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Decoder:</a:t>
            </a:r>
            <a:r>
              <a:rPr sz="135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Maps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received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samples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nearest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8-QAM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symbol.</a:t>
            </a:r>
            <a:endParaRPr sz="1200">
              <a:latin typeface="Calibri"/>
              <a:cs typeface="Calibri"/>
            </a:endParaRPr>
          </a:p>
          <a:p>
            <a:pPr marL="238125" marR="5080" indent="-225425">
              <a:lnSpc>
                <a:spcPts val="1500"/>
              </a:lnSpc>
              <a:spcBef>
                <a:spcPts val="175"/>
              </a:spcBef>
              <a:buAutoNum type="arabicPeriod" startAt="4"/>
              <a:tabLst>
                <a:tab pos="241300" algn="l"/>
              </a:tabLst>
            </a:pPr>
            <a:r>
              <a:rPr sz="1350" dirty="0">
                <a:latin typeface="Calibri"/>
                <a:cs typeface="Calibri"/>
              </a:rPr>
              <a:t>Unpack</a:t>
            </a:r>
            <a:r>
              <a:rPr sz="1350" spc="-4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K</a:t>
            </a:r>
            <a:r>
              <a:rPr sz="1350" spc="-3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Bits:</a:t>
            </a:r>
            <a:r>
              <a:rPr sz="1200" dirty="0">
                <a:latin typeface="Calibri"/>
                <a:cs typeface="Calibri"/>
              </a:rPr>
              <a:t>Converts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symbol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indices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back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raw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bits.</a:t>
            </a:r>
            <a:r>
              <a:rPr sz="1350" dirty="0">
                <a:latin typeface="Calibri"/>
                <a:cs typeface="Calibri"/>
              </a:rPr>
              <a:t>Head</a:t>
            </a:r>
            <a:r>
              <a:rPr sz="135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Limits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output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to 	</a:t>
            </a:r>
            <a:r>
              <a:rPr sz="1200" dirty="0">
                <a:latin typeface="Calibri"/>
                <a:cs typeface="Calibri"/>
              </a:rPr>
              <a:t>fixed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number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bits,</a:t>
            </a:r>
            <a:r>
              <a:rPr sz="1200" spc="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Skip</a:t>
            </a:r>
            <a:r>
              <a:rPr sz="1200" spc="-10" dirty="0">
                <a:latin typeface="Calibri"/>
                <a:cs typeface="Calibri"/>
              </a:rPr>
              <a:t> HeadRemoves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filter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delay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transients.</a:t>
            </a:r>
            <a:endParaRPr sz="1200">
              <a:latin typeface="Calibri"/>
              <a:cs typeface="Calibri"/>
            </a:endParaRPr>
          </a:p>
          <a:p>
            <a:pPr marL="241935" indent="-229235">
              <a:lnSpc>
                <a:spcPts val="1415"/>
              </a:lnSpc>
              <a:buAutoNum type="arabicPeriod" startAt="4"/>
              <a:tabLst>
                <a:tab pos="241935" algn="l"/>
              </a:tabLst>
            </a:pPr>
            <a:r>
              <a:rPr sz="1200" dirty="0">
                <a:latin typeface="Calibri"/>
                <a:cs typeface="Calibri"/>
              </a:rPr>
              <a:t>File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Sink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:saves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recovered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bitstream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binary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file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5"/>
              </a:spcBef>
              <a:buAutoNum type="arabicPeriod" startAt="4"/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b="1" spc="-20" dirty="0">
                <a:latin typeface="Calibri"/>
                <a:cs typeface="Calibri"/>
              </a:rPr>
              <a:t>RESULTS</a:t>
            </a:r>
            <a:r>
              <a:rPr sz="1200" b="1" spc="-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and </a:t>
            </a:r>
            <a:r>
              <a:rPr sz="1200" b="1" spc="-20" dirty="0">
                <a:latin typeface="Calibri"/>
                <a:cs typeface="Calibri"/>
              </a:rPr>
              <a:t>ANALYSIS</a:t>
            </a:r>
            <a:r>
              <a:rPr sz="1200" b="1" spc="-5" dirty="0">
                <a:latin typeface="Calibri"/>
                <a:cs typeface="Calibri"/>
              </a:rPr>
              <a:t> </a:t>
            </a:r>
            <a:r>
              <a:rPr sz="1200" b="1" spc="-50" dirty="0">
                <a:latin typeface="Calibri"/>
                <a:cs typeface="Calibri"/>
              </a:rPr>
              <a:t>:</a:t>
            </a:r>
            <a:endParaRPr sz="1200">
              <a:latin typeface="Calibri"/>
              <a:cs typeface="Calibri"/>
            </a:endParaRPr>
          </a:p>
          <a:p>
            <a:pPr marL="241300" lvl="1" indent="-228600">
              <a:lnSpc>
                <a:spcPct val="100000"/>
              </a:lnSpc>
              <a:spcBef>
                <a:spcPts val="254"/>
              </a:spcBef>
              <a:buAutoNum type="arabicPeriod"/>
              <a:tabLst>
                <a:tab pos="241300" algn="l"/>
              </a:tabLst>
            </a:pPr>
            <a:r>
              <a:rPr sz="1200" b="1" dirty="0">
                <a:latin typeface="Calibri"/>
                <a:cs typeface="Calibri"/>
              </a:rPr>
              <a:t>Matched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constellation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at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receiver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and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transmitter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9153" y="8434578"/>
            <a:ext cx="4998720" cy="67310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60"/>
              </a:spcBef>
              <a:buAutoNum type="arabicPeriod" startAt="2"/>
              <a:tabLst>
                <a:tab pos="241300" algn="l"/>
              </a:tabLst>
            </a:pPr>
            <a:r>
              <a:rPr sz="1200" b="1" dirty="0">
                <a:latin typeface="Calibri"/>
                <a:cs typeface="Calibri"/>
              </a:rPr>
              <a:t>Input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binary</a:t>
            </a:r>
            <a:r>
              <a:rPr sz="1200" b="1" spc="-3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file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generated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by</a:t>
            </a:r>
            <a:r>
              <a:rPr sz="1200" b="1" spc="-3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python</a:t>
            </a:r>
            <a:r>
              <a:rPr sz="1200" b="1" spc="-20" dirty="0">
                <a:latin typeface="Calibri"/>
                <a:cs typeface="Calibri"/>
              </a:rPr>
              <a:t> code</a:t>
            </a:r>
            <a:endParaRPr sz="1200">
              <a:latin typeface="Calibri"/>
              <a:cs typeface="Calibri"/>
            </a:endParaRPr>
          </a:p>
          <a:p>
            <a:pPr marL="241300" marR="5080" indent="-228600">
              <a:lnSpc>
                <a:spcPct val="117500"/>
              </a:lnSpc>
              <a:spcBef>
                <a:spcPts val="15"/>
              </a:spcBef>
              <a:buAutoNum type="arabicPeriod" startAt="2"/>
              <a:tabLst>
                <a:tab pos="241300" algn="l"/>
              </a:tabLst>
            </a:pPr>
            <a:r>
              <a:rPr sz="1200" b="1" dirty="0">
                <a:latin typeface="Calibri"/>
                <a:cs typeface="Calibri"/>
              </a:rPr>
              <a:t>Decode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file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recovered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and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both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the</a:t>
            </a:r>
            <a:r>
              <a:rPr sz="1200" b="1" spc="-4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binary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files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are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compared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with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the</a:t>
            </a:r>
            <a:r>
              <a:rPr sz="1200" b="1" spc="-40" dirty="0">
                <a:latin typeface="Calibri"/>
                <a:cs typeface="Calibri"/>
              </a:rPr>
              <a:t> </a:t>
            </a:r>
            <a:r>
              <a:rPr sz="1200" b="1" spc="-20" dirty="0">
                <a:latin typeface="Calibri"/>
                <a:cs typeface="Calibri"/>
              </a:rPr>
              <a:t>help </a:t>
            </a:r>
            <a:r>
              <a:rPr sz="1200" b="1" dirty="0">
                <a:latin typeface="Calibri"/>
                <a:cs typeface="Calibri"/>
              </a:rPr>
              <a:t>python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code.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600" y="1776983"/>
            <a:ext cx="3574923" cy="192468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00200" y="6814946"/>
            <a:ext cx="4819650" cy="16433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9153" y="4146930"/>
            <a:ext cx="32105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alibri"/>
                <a:cs typeface="Calibri"/>
              </a:rPr>
              <a:t>4.</a:t>
            </a:r>
            <a:r>
              <a:rPr sz="1200" b="1" spc="110" dirty="0">
                <a:latin typeface="Calibri"/>
                <a:cs typeface="Calibri"/>
              </a:rPr>
              <a:t>  </a:t>
            </a:r>
            <a:r>
              <a:rPr sz="1200" b="1" dirty="0">
                <a:latin typeface="Calibri"/>
                <a:cs typeface="Calibri"/>
              </a:rPr>
              <a:t>We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got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100%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matched</a:t>
            </a:r>
            <a:r>
              <a:rPr sz="1200" b="1" spc="-3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with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zero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bit</a:t>
            </a:r>
            <a:r>
              <a:rPr sz="1200" b="1" spc="-4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error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rate</a:t>
            </a:r>
            <a:r>
              <a:rPr sz="1200" b="1" spc="-35" dirty="0">
                <a:latin typeface="Calibri"/>
                <a:cs typeface="Calibri"/>
              </a:rPr>
              <a:t> </a:t>
            </a:r>
            <a:r>
              <a:rPr sz="1200" b="1" spc="-50" dirty="0">
                <a:latin typeface="Calibri"/>
                <a:cs typeface="Calibri"/>
              </a:rPr>
              <a:t>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0200" y="914399"/>
            <a:ext cx="3714115" cy="32232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Words>566</Words>
  <Application>Microsoft Office PowerPoint</Application>
  <PresentationFormat>Custom</PresentationFormat>
  <Paragraphs>39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MANVITHA B</dc:creator>
  <cp:lastModifiedBy>MANVITHA B</cp:lastModifiedBy>
  <cp:revision>1</cp:revision>
  <dcterms:created xsi:type="dcterms:W3CDTF">2026-04-24T21:04:57Z</dcterms:created>
  <dcterms:modified xsi:type="dcterms:W3CDTF">2026-04-24T21:17:17Z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2026-04-25T00:00:00Z</vt:filetime>
  </property>
  <property fmtid="{D5CDD505-2E9C-101B-9397-08002B2CF9AE}" pid="3" name="Creator">
    <vt:lpwstr>Microsoft® Word 2021</vt:lpwstr>
  </property>
  <property fmtid="{D5CDD505-2E9C-101B-9397-08002B2CF9AE}" pid="4" name="LastSaved">
    <vt:filetime>2026-04-24T00:00:00Z</vt:filetime>
  </property>
  <property fmtid="{D5CDD505-2E9C-101B-9397-08002B2CF9AE}" pid="5" name="Producer">
    <vt:lpwstr>Microsoft® Word 2021</vt:lpwstr>
  </property>
</Properties>
</file>